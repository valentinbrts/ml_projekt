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0"/>
  </p:notesMasterIdLst>
  <p:handoutMasterIdLst>
    <p:handoutMasterId r:id="rId11"/>
  </p:handoutMasterIdLst>
  <p:sldIdLst>
    <p:sldId id="308" r:id="rId5"/>
    <p:sldId id="309" r:id="rId6"/>
    <p:sldId id="310" r:id="rId7"/>
    <p:sldId id="311" r:id="rId8"/>
    <p:sldId id="31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hlemann, Sophie" initials="KS" lastIdx="10" clrIdx="0">
    <p:extLst>
      <p:ext uri="{19B8F6BF-5375-455C-9EA6-DF929625EA0E}">
        <p15:presenceInfo xmlns:p15="http://schemas.microsoft.com/office/powerpoint/2012/main" userId="S-1-5-21-2445940274-3546290456-3766068514-3654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4316A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4" y="1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13" name="Grafik 3">
            <a:extLst>
              <a:ext uri="{FF2B5EF4-FFF2-40B4-BE49-F238E27FC236}">
                <a16:creationId xmlns:a16="http://schemas.microsoft.com/office/drawing/2014/main" id="{1809E430-A4A0-4F14-BD9A-92AA8E11E120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F6D4EE4-085A-459C-82C9-AF72AB235F3A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D1EFA498-5D6C-4949-A057-45EACB161715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226BEB46-8DDC-4F31-84D5-43C1D428FD87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4E98491-A86C-43A3-8589-BB48949DBB2B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6586E11-2F38-4E90-98CE-782A08295553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67D1AD5-99F8-4263-A1A6-71A982D72E61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F8B1A12-11A7-42FF-8F31-2FFE11ECE0C2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5BF2A515-E766-41FF-8C27-C9003567EAC7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7F510EBB-F96A-4861-B8B5-E1218516CEB6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F4C5C431-4D27-4E94-8A72-9F5026A0DB92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C7807AF4-2931-4060-8651-FAE57D3A1697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0A540DAF-3F4A-4E60-AB20-08DE835AAC1F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B740F740-2C9D-4EB2-B492-298181006824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653C23F7-BCC6-448A-B74E-783CC86F6845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1884E293-5900-4629-A460-9B364230A0D1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623F20C0-5C72-4745-BADF-2EB5DE6FD209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81B2BEC0-46F8-4083-986B-0DCD70E8F6DB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A81ACECC-FB3B-4FA3-9E6E-79B4642A0158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39689E31-9B66-44E7-B47F-C666C38FB7EF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E38D45FB-93D8-44DA-AE4F-CA723C7C76CB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F690CF57-2C49-4051-84D6-F1216B22B26E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C1199D-1BE6-423F-ADAC-1B7CBAF1DB91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E7191C5F-FC93-4748-9A11-EDA7A6612882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4361EF3F-FE70-4257-87A6-E598180320B3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6AB41A3-EE45-4F8B-8561-4F2BFDDA1013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3FC3A2DF-C2B1-4B25-B534-F5E1D59A3F0F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E566DD13-4817-4C91-96FC-CBC0466BB0D8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821DC2DB-ABD3-4652-A841-4D1E6F29828B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2A137A4D-DCD1-498A-9B30-BA8A264D1628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67736D99-481F-43E1-A439-6D53814FD4AF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4" name="Freihandform: Form 243">
              <a:extLst>
                <a:ext uri="{FF2B5EF4-FFF2-40B4-BE49-F238E27FC236}">
                  <a16:creationId xmlns:a16="http://schemas.microsoft.com/office/drawing/2014/main" id="{05A64505-32AC-4527-AEA0-AB1174EA690E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5" name="Freihandform: Form 244">
              <a:extLst>
                <a:ext uri="{FF2B5EF4-FFF2-40B4-BE49-F238E27FC236}">
                  <a16:creationId xmlns:a16="http://schemas.microsoft.com/office/drawing/2014/main" id="{C65FFDEA-1A26-4BE3-A84A-5A46C9E7B5FE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6" name="Freihandform: Form 245">
              <a:extLst>
                <a:ext uri="{FF2B5EF4-FFF2-40B4-BE49-F238E27FC236}">
                  <a16:creationId xmlns:a16="http://schemas.microsoft.com/office/drawing/2014/main" id="{CFC9BF65-D528-4810-BC56-4CD8988DC0C8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7" name="Freihandform: Form 246">
              <a:extLst>
                <a:ext uri="{FF2B5EF4-FFF2-40B4-BE49-F238E27FC236}">
                  <a16:creationId xmlns:a16="http://schemas.microsoft.com/office/drawing/2014/main" id="{BB62778A-CBC0-461E-B274-DB517F0546E3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8" name="Freihandform: Form 247">
              <a:extLst>
                <a:ext uri="{FF2B5EF4-FFF2-40B4-BE49-F238E27FC236}">
                  <a16:creationId xmlns:a16="http://schemas.microsoft.com/office/drawing/2014/main" id="{337ABDD6-BAFD-497D-BA4B-D32E663BBB93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9" name="Freihandform: Form 248">
              <a:extLst>
                <a:ext uri="{FF2B5EF4-FFF2-40B4-BE49-F238E27FC236}">
                  <a16:creationId xmlns:a16="http://schemas.microsoft.com/office/drawing/2014/main" id="{F912D02F-D665-4FC7-ACBE-AFD64A4892B2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0" name="Freihandform: Form 249">
              <a:extLst>
                <a:ext uri="{FF2B5EF4-FFF2-40B4-BE49-F238E27FC236}">
                  <a16:creationId xmlns:a16="http://schemas.microsoft.com/office/drawing/2014/main" id="{ED3D0B6C-CF30-40F6-9994-049DE2F09E77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1" name="Freihandform: Form 250">
              <a:extLst>
                <a:ext uri="{FF2B5EF4-FFF2-40B4-BE49-F238E27FC236}">
                  <a16:creationId xmlns:a16="http://schemas.microsoft.com/office/drawing/2014/main" id="{2F102745-C89E-4457-AB2E-9882F7EDF638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2" name="Freihandform: Form 251">
              <a:extLst>
                <a:ext uri="{FF2B5EF4-FFF2-40B4-BE49-F238E27FC236}">
                  <a16:creationId xmlns:a16="http://schemas.microsoft.com/office/drawing/2014/main" id="{20B8CF65-3C7E-40C9-9359-73514BB8968F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3" name="Freihandform: Form 252">
              <a:extLst>
                <a:ext uri="{FF2B5EF4-FFF2-40B4-BE49-F238E27FC236}">
                  <a16:creationId xmlns:a16="http://schemas.microsoft.com/office/drawing/2014/main" id="{C90F29F1-CEB1-4699-829E-DC7991CA70DB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4" name="Freihandform: Form 253">
              <a:extLst>
                <a:ext uri="{FF2B5EF4-FFF2-40B4-BE49-F238E27FC236}">
                  <a16:creationId xmlns:a16="http://schemas.microsoft.com/office/drawing/2014/main" id="{2DF19D42-3ABB-4580-B25F-F2837990BD84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5" name="Freihandform: Form 254">
              <a:extLst>
                <a:ext uri="{FF2B5EF4-FFF2-40B4-BE49-F238E27FC236}">
                  <a16:creationId xmlns:a16="http://schemas.microsoft.com/office/drawing/2014/main" id="{E5998662-7726-4AF1-B7A1-4A9F52203D33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6" name="Freihandform: Form 255">
              <a:extLst>
                <a:ext uri="{FF2B5EF4-FFF2-40B4-BE49-F238E27FC236}">
                  <a16:creationId xmlns:a16="http://schemas.microsoft.com/office/drawing/2014/main" id="{2C67B4C5-66E7-4334-907E-BD17FDCA901F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7" name="Freihandform: Form 256">
              <a:extLst>
                <a:ext uri="{FF2B5EF4-FFF2-40B4-BE49-F238E27FC236}">
                  <a16:creationId xmlns:a16="http://schemas.microsoft.com/office/drawing/2014/main" id="{D1D81AEF-2530-4F8A-A1BA-E124FBEB83E3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8" name="Freihandform: Form 257">
              <a:extLst>
                <a:ext uri="{FF2B5EF4-FFF2-40B4-BE49-F238E27FC236}">
                  <a16:creationId xmlns:a16="http://schemas.microsoft.com/office/drawing/2014/main" id="{91616AB2-66B8-4121-A36D-D023DFC7F416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9" name="Freihandform: Form 258">
              <a:extLst>
                <a:ext uri="{FF2B5EF4-FFF2-40B4-BE49-F238E27FC236}">
                  <a16:creationId xmlns:a16="http://schemas.microsoft.com/office/drawing/2014/main" id="{CF224488-73D5-498B-8A6F-E508395322D3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0" name="Freihandform: Form 259">
              <a:extLst>
                <a:ext uri="{FF2B5EF4-FFF2-40B4-BE49-F238E27FC236}">
                  <a16:creationId xmlns:a16="http://schemas.microsoft.com/office/drawing/2014/main" id="{3AE46D25-9359-4619-8055-B59B12C4E131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1" name="Freihandform: Form 260">
              <a:extLst>
                <a:ext uri="{FF2B5EF4-FFF2-40B4-BE49-F238E27FC236}">
                  <a16:creationId xmlns:a16="http://schemas.microsoft.com/office/drawing/2014/main" id="{06F838B5-38CC-47DF-BFBC-AF849845BCE1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2" name="Freihandform: Form 261">
              <a:extLst>
                <a:ext uri="{FF2B5EF4-FFF2-40B4-BE49-F238E27FC236}">
                  <a16:creationId xmlns:a16="http://schemas.microsoft.com/office/drawing/2014/main" id="{EFD7FED8-140E-49CE-846B-FEC793083645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3" name="Freihandform: Form 262">
              <a:extLst>
                <a:ext uri="{FF2B5EF4-FFF2-40B4-BE49-F238E27FC236}">
                  <a16:creationId xmlns:a16="http://schemas.microsoft.com/office/drawing/2014/main" id="{A901D558-23E5-4464-8A3C-15F371E6872B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4" name="Freihandform: Form 263">
              <a:extLst>
                <a:ext uri="{FF2B5EF4-FFF2-40B4-BE49-F238E27FC236}">
                  <a16:creationId xmlns:a16="http://schemas.microsoft.com/office/drawing/2014/main" id="{1707B2C4-8F71-403B-9E15-A9883B7C2A1C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5" name="Freihandform: Form 264">
              <a:extLst>
                <a:ext uri="{FF2B5EF4-FFF2-40B4-BE49-F238E27FC236}">
                  <a16:creationId xmlns:a16="http://schemas.microsoft.com/office/drawing/2014/main" id="{3A870182-1564-41CE-9E37-9ABD1DE9A6E3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6" name="Freihandform: Form 265">
              <a:extLst>
                <a:ext uri="{FF2B5EF4-FFF2-40B4-BE49-F238E27FC236}">
                  <a16:creationId xmlns:a16="http://schemas.microsoft.com/office/drawing/2014/main" id="{59DBD287-68CC-4F3F-90AB-A995B27E5A9B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7" name="Freihandform: Form 266">
              <a:extLst>
                <a:ext uri="{FF2B5EF4-FFF2-40B4-BE49-F238E27FC236}">
                  <a16:creationId xmlns:a16="http://schemas.microsoft.com/office/drawing/2014/main" id="{B6287DF6-CA02-4DE1-AD71-4BF62EBE6396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8" name="Freihandform: Form 267">
              <a:extLst>
                <a:ext uri="{FF2B5EF4-FFF2-40B4-BE49-F238E27FC236}">
                  <a16:creationId xmlns:a16="http://schemas.microsoft.com/office/drawing/2014/main" id="{A455995B-FF19-4248-94F5-EA453F5182BC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9" name="Freihandform: Form 268">
              <a:extLst>
                <a:ext uri="{FF2B5EF4-FFF2-40B4-BE49-F238E27FC236}">
                  <a16:creationId xmlns:a16="http://schemas.microsoft.com/office/drawing/2014/main" id="{2A24E77D-343F-423D-A124-23142B96164A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0" name="Freihandform: Form 269">
              <a:extLst>
                <a:ext uri="{FF2B5EF4-FFF2-40B4-BE49-F238E27FC236}">
                  <a16:creationId xmlns:a16="http://schemas.microsoft.com/office/drawing/2014/main" id="{83AE92AB-068D-4D77-910A-C243DEA3B7D8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1" name="Freihandform: Form 270">
              <a:extLst>
                <a:ext uri="{FF2B5EF4-FFF2-40B4-BE49-F238E27FC236}">
                  <a16:creationId xmlns:a16="http://schemas.microsoft.com/office/drawing/2014/main" id="{71B3082D-B364-404C-8EE0-64D1F1F07577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2" name="Freihandform: Form 271">
              <a:extLst>
                <a:ext uri="{FF2B5EF4-FFF2-40B4-BE49-F238E27FC236}">
                  <a16:creationId xmlns:a16="http://schemas.microsoft.com/office/drawing/2014/main" id="{91760FEA-4737-4183-8A29-75C45D9B69AB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3" name="Freihandform: Form 272">
              <a:extLst>
                <a:ext uri="{FF2B5EF4-FFF2-40B4-BE49-F238E27FC236}">
                  <a16:creationId xmlns:a16="http://schemas.microsoft.com/office/drawing/2014/main" id="{24BA7877-7B7C-4C99-A7FB-8D50CD60EB59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4" name="Freihandform: Form 273">
              <a:extLst>
                <a:ext uri="{FF2B5EF4-FFF2-40B4-BE49-F238E27FC236}">
                  <a16:creationId xmlns:a16="http://schemas.microsoft.com/office/drawing/2014/main" id="{CB08555D-77C4-4E49-9021-BEE8D3903ACB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5" name="Freihandform: Form 274">
              <a:extLst>
                <a:ext uri="{FF2B5EF4-FFF2-40B4-BE49-F238E27FC236}">
                  <a16:creationId xmlns:a16="http://schemas.microsoft.com/office/drawing/2014/main" id="{B95A74DD-3BCD-4CB1-9EC7-F904CAEFCB5B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6" name="Freihandform: Form 275">
              <a:extLst>
                <a:ext uri="{FF2B5EF4-FFF2-40B4-BE49-F238E27FC236}">
                  <a16:creationId xmlns:a16="http://schemas.microsoft.com/office/drawing/2014/main" id="{B756A931-26C4-46F3-AF51-F75487DE5C6F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7" name="Freihandform: Form 276">
              <a:extLst>
                <a:ext uri="{FF2B5EF4-FFF2-40B4-BE49-F238E27FC236}">
                  <a16:creationId xmlns:a16="http://schemas.microsoft.com/office/drawing/2014/main" id="{7EE99256-843E-4966-A958-37FF836D7C17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8" name="Freihandform: Form 277">
              <a:extLst>
                <a:ext uri="{FF2B5EF4-FFF2-40B4-BE49-F238E27FC236}">
                  <a16:creationId xmlns:a16="http://schemas.microsoft.com/office/drawing/2014/main" id="{C1566263-06A3-4DAE-81C0-6CD38991B895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9" name="Freihandform: Form 278">
              <a:extLst>
                <a:ext uri="{FF2B5EF4-FFF2-40B4-BE49-F238E27FC236}">
                  <a16:creationId xmlns:a16="http://schemas.microsoft.com/office/drawing/2014/main" id="{C35799A7-8D8C-4526-BFD3-2B76F61338E3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0" name="Freihandform: Form 279">
              <a:extLst>
                <a:ext uri="{FF2B5EF4-FFF2-40B4-BE49-F238E27FC236}">
                  <a16:creationId xmlns:a16="http://schemas.microsoft.com/office/drawing/2014/main" id="{A3C8438E-2478-4F49-9168-B8953F43F7B6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1" name="Freihandform: Form 280">
              <a:extLst>
                <a:ext uri="{FF2B5EF4-FFF2-40B4-BE49-F238E27FC236}">
                  <a16:creationId xmlns:a16="http://schemas.microsoft.com/office/drawing/2014/main" id="{79FA65E8-3B49-486C-BBA8-7D5BFAF50194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2" name="Freihandform: Form 281">
              <a:extLst>
                <a:ext uri="{FF2B5EF4-FFF2-40B4-BE49-F238E27FC236}">
                  <a16:creationId xmlns:a16="http://schemas.microsoft.com/office/drawing/2014/main" id="{C4A39B2C-6C0D-42F4-BC52-B3B451C480B1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3" name="Freihandform: Form 282">
              <a:extLst>
                <a:ext uri="{FF2B5EF4-FFF2-40B4-BE49-F238E27FC236}">
                  <a16:creationId xmlns:a16="http://schemas.microsoft.com/office/drawing/2014/main" id="{46BB5A8F-C21E-4D01-B431-807803FB5AD6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4" name="Freihandform: Form 283">
              <a:extLst>
                <a:ext uri="{FF2B5EF4-FFF2-40B4-BE49-F238E27FC236}">
                  <a16:creationId xmlns:a16="http://schemas.microsoft.com/office/drawing/2014/main" id="{E2B32CBE-81D4-4157-A204-C55B0BFC36FD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5" name="Freihandform: Form 284">
              <a:extLst>
                <a:ext uri="{FF2B5EF4-FFF2-40B4-BE49-F238E27FC236}">
                  <a16:creationId xmlns:a16="http://schemas.microsoft.com/office/drawing/2014/main" id="{11A2A934-6ABD-469C-A7DA-94052AA3ACD9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6" name="Freihandform: Form 285">
              <a:extLst>
                <a:ext uri="{FF2B5EF4-FFF2-40B4-BE49-F238E27FC236}">
                  <a16:creationId xmlns:a16="http://schemas.microsoft.com/office/drawing/2014/main" id="{3BB1BD05-C8A4-4547-A1A7-DBF8092E1E72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7" name="Freihandform: Form 286">
              <a:extLst>
                <a:ext uri="{FF2B5EF4-FFF2-40B4-BE49-F238E27FC236}">
                  <a16:creationId xmlns:a16="http://schemas.microsoft.com/office/drawing/2014/main" id="{0E2A3272-C104-4611-8721-06CADC35166A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8" name="Freihandform: Form 287">
              <a:extLst>
                <a:ext uri="{FF2B5EF4-FFF2-40B4-BE49-F238E27FC236}">
                  <a16:creationId xmlns:a16="http://schemas.microsoft.com/office/drawing/2014/main" id="{58991AAA-2773-4AF3-A0C0-BCBBC8236D08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9" name="Freihandform: Form 288">
              <a:extLst>
                <a:ext uri="{FF2B5EF4-FFF2-40B4-BE49-F238E27FC236}">
                  <a16:creationId xmlns:a16="http://schemas.microsoft.com/office/drawing/2014/main" id="{BE6DF724-2E49-4DC2-A0EC-8498D22EADAE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0" name="Freihandform: Form 289">
              <a:extLst>
                <a:ext uri="{FF2B5EF4-FFF2-40B4-BE49-F238E27FC236}">
                  <a16:creationId xmlns:a16="http://schemas.microsoft.com/office/drawing/2014/main" id="{6F2B2A44-D3B9-4839-8780-2523FC7C0CFA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1" name="Freihandform: Form 290">
              <a:extLst>
                <a:ext uri="{FF2B5EF4-FFF2-40B4-BE49-F238E27FC236}">
                  <a16:creationId xmlns:a16="http://schemas.microsoft.com/office/drawing/2014/main" id="{A7B61303-4423-4700-A145-E52E0AAF82EC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2" name="Freihandform: Form 291">
              <a:extLst>
                <a:ext uri="{FF2B5EF4-FFF2-40B4-BE49-F238E27FC236}">
                  <a16:creationId xmlns:a16="http://schemas.microsoft.com/office/drawing/2014/main" id="{CAA87110-575D-4D1F-A310-D946F13A5FF3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3" name="Freihandform: Form 292">
              <a:extLst>
                <a:ext uri="{FF2B5EF4-FFF2-40B4-BE49-F238E27FC236}">
                  <a16:creationId xmlns:a16="http://schemas.microsoft.com/office/drawing/2014/main" id="{284BB8DF-265D-4207-A163-D86AF4D1D7FF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4" name="Freihandform: Form 293">
              <a:extLst>
                <a:ext uri="{FF2B5EF4-FFF2-40B4-BE49-F238E27FC236}">
                  <a16:creationId xmlns:a16="http://schemas.microsoft.com/office/drawing/2014/main" id="{4DB9C8B7-8322-4B56-AFD9-905DC7EF49E5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5" name="Freihandform: Form 294">
              <a:extLst>
                <a:ext uri="{FF2B5EF4-FFF2-40B4-BE49-F238E27FC236}">
                  <a16:creationId xmlns:a16="http://schemas.microsoft.com/office/drawing/2014/main" id="{17E12F20-0FCA-412C-B4C2-F749AFFCAD6E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8C89-6DBD-454B-87F5-176A8C31E8C3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5835-5467-E949-BC43-DBD795CC6E7A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403160-8459-D24E-8ECF-1768A6C393C2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12" name="Grafik 3">
            <a:extLst>
              <a:ext uri="{FF2B5EF4-FFF2-40B4-BE49-F238E27FC236}">
                <a16:creationId xmlns:a16="http://schemas.microsoft.com/office/drawing/2014/main" id="{C7BBC885-0DED-4896-9346-B81B3DFDE163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3CC4892F-A906-4E4B-BEBB-92977436EBE7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4" name="Freihandform: Form 113">
              <a:extLst>
                <a:ext uri="{FF2B5EF4-FFF2-40B4-BE49-F238E27FC236}">
                  <a16:creationId xmlns:a16="http://schemas.microsoft.com/office/drawing/2014/main" id="{44B6FC23-C285-48C4-8A96-6359C6B7586F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5" name="Freihandform: Form 114">
              <a:extLst>
                <a:ext uri="{FF2B5EF4-FFF2-40B4-BE49-F238E27FC236}">
                  <a16:creationId xmlns:a16="http://schemas.microsoft.com/office/drawing/2014/main" id="{C116F810-D7E5-4F55-8ABD-84A95E364884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D4042654-B2BC-4AA6-A157-885C0B58E2F9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1C1F8A9F-2959-43DD-BD31-1434DDEB6A7C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FE6073BB-B987-443D-93D9-49C8E659470B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F9006685-D690-40E5-BDDF-68D7A3F24A92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00601C1C-5D55-4BF3-A5A7-1A3AE6189209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817C1DF2-9151-4C01-A684-0700826D1283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6B106256-8404-4067-8E7A-E01321DCBA03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6927C2D1-9462-4534-9A9E-8418E1EA163F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4D24B4B9-ED7F-4932-B6A0-95BAB2E6BAA1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5B42272A-45E1-4F0A-8F5A-871FF29FF040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7CA3A6CD-6E16-40A8-9445-6EE8B3BB8A0D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7FE1A26D-7D77-46D7-BD0D-488898D8CD0B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27">
              <a:extLst>
                <a:ext uri="{FF2B5EF4-FFF2-40B4-BE49-F238E27FC236}">
                  <a16:creationId xmlns:a16="http://schemas.microsoft.com/office/drawing/2014/main" id="{091F6143-639A-4F3D-8B07-39438D782D44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0719B3E5-5B65-43B2-9D81-D3CFE51DE9F6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F103A488-1226-4CCD-B931-5F7438AE2F80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EF3F776B-7E6A-4950-84DB-DC42302BA9B9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31">
              <a:extLst>
                <a:ext uri="{FF2B5EF4-FFF2-40B4-BE49-F238E27FC236}">
                  <a16:creationId xmlns:a16="http://schemas.microsoft.com/office/drawing/2014/main" id="{FC0F14F5-38EB-4D6F-BD85-7077223A5A7A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1E048B0E-3AE0-4AA1-A63B-68E8E4E40DD0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9327B281-6258-4D41-9D1C-4A9E4CD7B000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4C83E44C-5C54-4D63-931E-F94A8FCE137A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145D09AB-BA33-4E2C-9C9B-60A9EE2AE1AB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87ED857C-BFDB-4C63-9349-B04A2F2B4CB7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022462CF-1873-4148-A70A-D28CE73EB178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713626AE-EAD2-4C7D-8BBD-8C2537F2C016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6946663-A499-4DAE-9CC7-A066B8C7448A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61DF69B0-D9E9-4D0D-AAF3-4AF06E976215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55825069-C406-4E26-8F1F-0D5BDD5F1542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E490C6BB-CEE2-4AFC-AD1D-169DF8422A53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90FD2BFA-017E-4874-9398-DBC07CF04CAA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58420EE4-2823-4360-82EF-FB939CEC9EAD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A56413FD-CD86-4A37-8941-0C3ED8C6601F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70BB9A3A-DA28-4E0A-8EE0-440CE8D817DF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7668531-35ED-4E46-A1F1-B59D4099692B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E5C3BB19-466D-4065-B79C-2358EA0C2BAC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A6359725-88DC-46FA-90B3-AE356047B727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802B8F28-C8F9-4511-A27E-FDB595AA82BB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B89008AF-D68A-45D1-B23A-9A8F809F9456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4D2AF9BD-C8EA-49F0-9EC7-025A5BF9B9BB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7E379F40-AEDC-4DCE-A071-D9E137D741D9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0ECF3A64-A23E-4825-A8EA-9DB032D9FA25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BBB003B1-14C1-4376-BD2C-B149B1EF0AA1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AEB77082-4118-497E-A6CC-99D1EBEAD35C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887BCFEB-5BC4-4E92-804C-B6A9C065684E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B4C33129-C5DD-4063-8FD8-20EEF58BF1F7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184C808E-8BC1-463E-BE99-DECAFB5636C1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C0794DED-7A68-4833-AC17-D008863582BA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930A8869-7F8D-427F-BA15-4E40DA0FEC90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57A33E8D-4897-4A53-928A-E6CA4DF2991B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5321F48-2496-4114-B6FE-C81DE73D981C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9FFB41-5355-4FCE-95E9-3DB2B8F454BF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918C63A4-642C-42D5-BACB-FCC505D9FDB8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E8EC4C4-AA5A-4D15-9B16-CDFDA936CDCE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6F937E76-CC0D-477F-B353-68EF56642729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BAC0FBC8-ED0D-4409-8984-BE47806B4B65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F1A3C0E-54A4-4D2A-AF84-95BB543BCE79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21505FB6-545A-4E69-8001-11A2429D0221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4840267-2F9B-45B4-8711-FEA1B69E6334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F2015CD-077D-4586-A92B-80A18C962209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4EF4452C-ECCB-48AD-98C9-C551CCC3B10F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345C9EB-66D0-4397-BF45-18B9D81FC3C1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CC092255-FE55-4165-B565-CECD0D71FCF4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67D70A2E-8F3A-4680-BECD-E71EE47E1952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506EEE1F-66F9-4D2B-BA94-2FB156CB0E39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74733A0-A3D9-4EB8-B59E-1D33A8156D3E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D1FAA1E8-DAFE-4E04-85EE-FCAD56BD35E1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09C4B215-6083-45BD-BA87-2DE47C9D0D8E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D529CA8F-B434-421C-8549-410B642072CA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B08278F5-401C-4B99-B08F-5BA7405F32D9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8E20F1AF-B558-471E-AAE9-8DBAFBFA6BA4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745B9AE5-CD71-43F4-9E16-87BCED79224F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436FB004-3A92-41D3-B808-71CE49217D0D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FB366C92-3556-460A-96A5-174C44955F53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04896952-F1FA-49B6-B449-4304B9D28C4D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FB0C4D95-0710-4CC8-AB09-3C3A3C73C620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57D06E2C-97D8-4B7E-BC43-4375533F6609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0AA21074-ECEF-4DBA-8FC1-08ABCFA0C59B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80B92DB5-B5F3-4077-A03B-256D966E382B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95446453-E0A3-4941-A520-97A3CBE945F9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2644EA24-40AD-4FCC-B4CC-B25C37E1A3D7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47DF-4A3A-2546-BDEC-2FE6348D7930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F392-BD35-6341-919C-A748FE2EEAEA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AA71-A3D6-2E44-B91F-7A4D1432995A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26C2B-F8F0-704E-BC9A-EBE50C372AF1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39D24-2FF0-6D4E-8668-718CF4089732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61BD-6FD1-9C4F-A8E3-1B2D44FDD542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26DFF-94B3-E541-823A-EF5F6E6BFE7B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CA2F-E89D-6A46-AEB2-87FB294475C1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2D49-625F-FF46-9163-10FB78DB95BE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D885-02FB-3C4C-B41E-17E699693BFE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BBAF2-0959-AF44-BE9B-581E351FED33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B9D90-877A-004F-BE93-D540635CA7BA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3F85-C665-1145-8E4B-2925D139850A}" type="datetime4">
              <a:rPr lang="de-DE" smtClean="0"/>
              <a:t>25.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15" name="Grafik 3">
            <a:extLst>
              <a:ext uri="{FF2B5EF4-FFF2-40B4-BE49-F238E27FC236}">
                <a16:creationId xmlns:a16="http://schemas.microsoft.com/office/drawing/2014/main" id="{BA8C8498-B3FB-4699-8D3B-C2363E24DDD2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CDB6A0FC-BBCF-4363-981A-716E0AAD602B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16474B78-4F38-4264-98D4-D30CA84AC80E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750361AA-FFAB-4953-A499-FA36FB58F7A6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056166AE-E09C-4601-9BAA-382FC22D4469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F86D92C2-582A-4B29-9805-84BE192C633C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118F9F96-378C-44FD-B853-EB8BD3F0E874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8042DCA9-4694-4769-A5A3-FC344870A4EA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F00A25A4-1F62-4078-A44B-C4D4D70E444D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28CFB822-A07B-4A27-9078-A5D01175B870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DBCC3206-8DD2-4C8A-B7F6-9C59E5A9FED9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424D3113-E668-441E-8951-A32BE015C3B0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970453C7-F0DE-47F0-A556-633D71E12AF3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27">
              <a:extLst>
                <a:ext uri="{FF2B5EF4-FFF2-40B4-BE49-F238E27FC236}">
                  <a16:creationId xmlns:a16="http://schemas.microsoft.com/office/drawing/2014/main" id="{4F84A0C8-4213-4B72-A3AD-CD286700FA17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81DDED70-42A5-47B0-97F2-08BDBD624DBB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25CB480C-3D67-472F-ACFE-9E8627F3F787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F623BA67-8D59-4570-819E-2DD7773DB063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31">
              <a:extLst>
                <a:ext uri="{FF2B5EF4-FFF2-40B4-BE49-F238E27FC236}">
                  <a16:creationId xmlns:a16="http://schemas.microsoft.com/office/drawing/2014/main" id="{60367351-1CE4-4258-8191-FDB59C1B3FDC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5BDDEE2C-25FB-4022-B55B-F5882A7C2A56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616535D9-C0A4-42CF-9C54-6DB06DFDFE6E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0485C757-813D-44E0-BCB7-31141CD07E48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C7CAB665-FB04-47AE-A7F6-B25666A9C7BD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213035C6-CF9F-4D5D-91E7-9D8CA8DAAFD6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D46799AE-D1AC-4A16-A5D1-F75A0C52D446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288A2A71-FDA8-44E1-BE21-21B3E3CBF381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33E41754-E419-43BA-806E-8079FFB20E80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4FD442D8-2598-48E7-965E-91E79FD4148F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31013972-1EA6-431E-AFC3-90896A4603F0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33FA3E3D-E1AC-4DFD-9390-6813E4246D86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FF90BE11-71FB-49BE-82FE-C113389F6F50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78FF349-EB76-40B6-97C4-BAB8A6EBC098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CE5DE3B7-333F-44B2-822B-BBDD51B19A83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EFDE0E19-A0D6-44C9-B936-C86E69C081A8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92690C8-716E-411B-947A-44532E780BD2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42450ADB-7283-48C2-85CD-2054C8EB268B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0B860D4A-1674-4A52-9B9D-2FF3B24B6343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0FB526FE-1FA8-44B6-BBD1-1C61428D8F50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D0955A09-933E-4FC9-8935-6A0761EC805E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2D2AEB27-3DBE-4C46-B855-F6417F8BE584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33AF7FFB-EC7B-4744-BEA9-F91312BA94BD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93A72E4F-5273-4932-87C1-9A44E6D802A2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296CC180-BECF-4BB2-9D3F-345BC48E83FD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815B2B66-D154-4CAE-9E05-F160280AF526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F4D79CE6-EDE8-44F4-A684-AD28961F3BD9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2F7D4B41-7B93-4F1E-9970-BCCF8B6998B4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C95388A3-66FF-4FB5-94A2-B1859A5937F6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78D8F18-F84F-465D-BFC1-1FE4712F2C27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A3512126-3734-4488-B3C7-50AA8C99473F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140A4E5F-697E-4391-A49B-C3859A1DB057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5B8B719-FB01-4DF6-B8A8-5B018E97920C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7725D6DA-37D3-47CF-89CE-BB856CF2EB8D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1DBBFD29-EE8E-4CCD-A8B3-557E22A4C9E9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2D98E32F-BDD7-4752-A6B1-BC0D4C3F7AC3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BD915048-FE88-419D-9EBB-8092B5E0F630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41994C-FB80-4B8C-A450-4723FFE0FDD3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F006D8D-E219-438B-83C5-C378362B72E1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42B68FE3-6246-468A-A9CC-619DD77F8675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45BE1ABE-A986-48B3-9EC3-5AC189356127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9E59EF01-209C-43D8-AD0F-020420CE10FE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9D96E9F2-8836-4F7F-855B-26E3CBC00612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1D392914-26E6-435A-9AE2-5EB8E02D6C78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27165C0-61B7-44AE-B61C-71360C9532ED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FC0E39F-03DD-436D-AA92-6F57E74A48FE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41C091E0-5821-4486-8E64-2FD52F3E0717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DF283017-0B2C-494C-BA68-EAD21CFD4FA4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7BB3E30E-76D0-477B-850A-C60FD0634019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05161B9B-AEF2-4FE6-8472-579148D2B4F5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A66A89DC-56C3-4098-B227-7E3A3A35EBD4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0A8862CA-8004-4A78-A7D1-3E40F07F0F8C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EAED3121-6B94-4633-9DD0-443BA4AAFDBA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6CDC8138-A44E-422D-9D3C-E27D1EB31A10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F2F80334-9D78-414E-92CF-9B09E762E936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07C72013-7C44-4386-86D5-3A12A2F7EFCB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B6AEF49F-F4CF-4D85-B5B5-551CF214D939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A4800E96-F44F-4BE1-93C8-E28DBD9F06F9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C7190F48-4EF5-4244-9B7B-1D12115D9AED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88ED0AF2-2479-48AB-9C89-A9E064055FB4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622CD024-B066-425E-90D8-13B1673EBE29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99DAA978-C363-44B9-ABA1-626F858E9B0C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88785ABD-E1F8-421B-9E84-DCDBF11C2B02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A0A53AA3-90DB-4EE1-9D52-0CE955AC6132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361C518F-8017-4A8A-82AE-26EA3F2EDA25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11B09AF8-F848-4632-B342-DF48AD33BA92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hink-cell data - do not delete" hidden="1">
            <a:extLst>
              <a:ext uri="{FF2B5EF4-FFF2-40B4-BE49-F238E27FC236}">
                <a16:creationId xmlns:a16="http://schemas.microsoft.com/office/drawing/2014/main" id="{5FEB07FE-519B-D7BE-1379-140D16E8F1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172477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408" imgH="408" progId="TCLayout.ActiveDocument.1">
                  <p:embed/>
                </p:oleObj>
              </mc:Choice>
              <mc:Fallback>
                <p:oleObj name="think-cell Folie" r:id="rId23" imgW="408" imgH="408" progId="TCLayout.ActiveDocument.1">
                  <p:embed/>
                  <p:pic>
                    <p:nvPicPr>
                      <p:cNvPr id="3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EB07FE-519B-D7BE-1379-140D16E8F1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813B354-BC39-4645-8819-2B4DEEDA9F36}" type="datetime4">
              <a:rPr lang="de-DE" smtClean="0"/>
              <a:t>25. Juni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hyperlink" Target="https://unsplash.com/de/fotos/person-mit-gelber-und-rosa-karte-idNOBU5k_80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A19B35EF-06A7-1DF8-B6C0-15F19B307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468CEFE-D84C-BEC8-1C85-6A31DA1C5F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93465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8" imgH="408" progId="TCLayout.ActiveDocument.1">
                  <p:embed/>
                </p:oleObj>
              </mc:Choice>
              <mc:Fallback>
                <p:oleObj name="think-cell Foli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68CEFE-D84C-BEC8-1C85-6A31DA1C5F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3">
            <a:extLst>
              <a:ext uri="{FF2B5EF4-FFF2-40B4-BE49-F238E27FC236}">
                <a16:creationId xmlns:a16="http://schemas.microsoft.com/office/drawing/2014/main" id="{4F67DDAB-A029-4F51-840C-C39A868C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3731"/>
            <a:ext cx="4873752" cy="2124749"/>
          </a:xfrm>
          <a:solidFill>
            <a:srgbClr val="000000">
              <a:alpha val="40000"/>
            </a:srgbClr>
          </a:solidFill>
        </p:spPr>
        <p:txBody>
          <a:bodyPr vert="horz"/>
          <a:lstStyle/>
          <a:p>
            <a:pPr marL="495300"/>
            <a:br>
              <a:rPr lang="de-DE" sz="3200" dirty="0"/>
            </a:br>
            <a:r>
              <a:rPr lang="de-DE" sz="3200" dirty="0"/>
              <a:t>ML4B:  </a:t>
            </a:r>
            <a:br>
              <a:rPr lang="de-DE" sz="3200" dirty="0"/>
            </a:br>
            <a:r>
              <a:rPr lang="de-DE" sz="3200" dirty="0"/>
              <a:t>Epochen Klassifikator</a:t>
            </a:r>
            <a:br>
              <a:rPr lang="en-US" sz="3200" dirty="0"/>
            </a:br>
            <a:endParaRPr lang="de-DE" sz="3200" dirty="0"/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5AF32BAC-2920-4262-A3B7-17614EBAA428}"/>
              </a:ext>
            </a:extLst>
          </p:cNvPr>
          <p:cNvSpPr txBox="1">
            <a:spLocks/>
          </p:cNvSpPr>
          <p:nvPr/>
        </p:nvSpPr>
        <p:spPr bwMode="auto">
          <a:xfrm>
            <a:off x="572738" y="5302881"/>
            <a:ext cx="11330711" cy="94165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charset="0"/>
              <a:buNone/>
              <a:defRPr sz="14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>
                    <a:tint val="75000"/>
                  </a:schemeClr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>
                    <a:tint val="75000"/>
                  </a:schemeClr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>
                    <a:tint val="75000"/>
                  </a:schemeClr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>
                    <a:tint val="75000"/>
                  </a:schemeClr>
                </a:solidFill>
                <a:latin typeface="+mn-lt"/>
              </a:defRPr>
            </a:lvl9pPr>
          </a:lstStyle>
          <a:p>
            <a:r>
              <a:rPr lang="de-DE" sz="1800" b="1" kern="0">
                <a:solidFill>
                  <a:schemeClr val="tx1"/>
                </a:solidFill>
                <a:latin typeface="Arial"/>
                <a:ea typeface="ＭＳ Ｐゴシック"/>
              </a:rPr>
              <a:t>TEAM: K Team</a:t>
            </a:r>
            <a:endParaRPr lang="de-DE" sz="1800" b="1" i="1" kern="0">
              <a:solidFill>
                <a:schemeClr val="tx1"/>
              </a:solidFill>
            </a:endParaRPr>
          </a:p>
          <a:p>
            <a:r>
              <a:rPr lang="de-DE" sz="1800" b="1" i="1" kern="0">
                <a:solidFill>
                  <a:schemeClr val="tx1"/>
                </a:solidFill>
                <a:latin typeface="Arial"/>
                <a:ea typeface="ＭＳ Ｐゴシック"/>
              </a:rPr>
              <a:t>Anna Julitz | Valentin </a:t>
            </a:r>
            <a:r>
              <a:rPr lang="de-DE" sz="1800" b="1" i="1" kern="0" err="1">
                <a:solidFill>
                  <a:schemeClr val="tx1"/>
                </a:solidFill>
                <a:latin typeface="Arial"/>
                <a:ea typeface="ＭＳ Ｐゴシック"/>
              </a:rPr>
              <a:t>Bridts</a:t>
            </a:r>
            <a:r>
              <a:rPr lang="de-DE" sz="1800" b="1" i="1" kern="0">
                <a:solidFill>
                  <a:schemeClr val="tx1"/>
                </a:solidFill>
                <a:latin typeface="Arial"/>
                <a:ea typeface="ＭＳ Ｐゴシック"/>
              </a:rPr>
              <a:t> | Eric Schmidt</a:t>
            </a:r>
            <a:endParaRPr lang="de-DE" sz="1800" b="1" i="1">
              <a:solidFill>
                <a:schemeClr val="tx1"/>
              </a:solidFill>
            </a:endParaRPr>
          </a:p>
          <a:p>
            <a:endParaRPr lang="de-DE" sz="1800" b="1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6E25D09-FD6A-9D4E-BF6D-4C35571D81F8}"/>
              </a:ext>
            </a:extLst>
          </p:cNvPr>
          <p:cNvSpPr txBox="1"/>
          <p:nvPr/>
        </p:nvSpPr>
        <p:spPr>
          <a:xfrm rot="16200000">
            <a:off x="11204566" y="1909242"/>
            <a:ext cx="16171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Paul Felberbauer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7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 31">
            <a:extLst>
              <a:ext uri="{FF2B5EF4-FFF2-40B4-BE49-F238E27FC236}">
                <a16:creationId xmlns:a16="http://schemas.microsoft.com/office/drawing/2014/main" id="{10ECC00B-7DCF-E369-7A53-EEB4208E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Worum geht es?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FFDD9A-35F5-B4B4-9042-E87B182E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8C89-6DBD-454B-87F5-176A8C31E8C3}" type="datetime4">
              <a:rPr lang="de-DE" smtClean="0"/>
              <a:t>25. Juni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32BF5A-BBF7-08D2-D3BD-417C00987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ML4B | K Team | </a:t>
            </a:r>
            <a:r>
              <a:rPr lang="it-IT" dirty="0" err="1"/>
              <a:t>Epochen</a:t>
            </a:r>
            <a:r>
              <a:rPr lang="it-IT" dirty="0"/>
              <a:t> </a:t>
            </a:r>
            <a:r>
              <a:rPr lang="it-IT" dirty="0" err="1"/>
              <a:t>Klassifikator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DDE41C-56CA-1EDB-CC1F-D28541D5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F713B3C4-7541-526A-D998-39DFA1291A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7919039" cy="945387"/>
          </a:xfrm>
        </p:spPr>
        <p:txBody>
          <a:bodyPr/>
          <a:lstStyle/>
          <a:p>
            <a:r>
              <a:rPr lang="de-DE" dirty="0"/>
              <a:t>Ein Modell ordnet ein gemaltes Bild automatisch einer von sechs Kunstepochen zu.</a:t>
            </a:r>
          </a:p>
          <a:p>
            <a:endParaRPr lang="de-DE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0EFD4690-83D8-E956-577D-A6C22373AC80}"/>
              </a:ext>
            </a:extLst>
          </p:cNvPr>
          <p:cNvSpPr/>
          <p:nvPr/>
        </p:nvSpPr>
        <p:spPr>
          <a:xfrm>
            <a:off x="6617491" y="2319108"/>
            <a:ext cx="19385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867BCDC8-F566-3399-15EB-C55891EAC6FB}"/>
              </a:ext>
            </a:extLst>
          </p:cNvPr>
          <p:cNvSpPr/>
          <p:nvPr/>
        </p:nvSpPr>
        <p:spPr>
          <a:xfrm>
            <a:off x="6763795" y="2483700"/>
            <a:ext cx="274320" cy="274320"/>
          </a:xfrm>
          <a:prstGeom prst="ellipse">
            <a:avLst/>
          </a:prstGeom>
          <a:solidFill>
            <a:srgbClr val="8C3A3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7E79B68B-776C-137E-6B3A-53B5A181CBED}"/>
              </a:ext>
            </a:extLst>
          </p:cNvPr>
          <p:cNvSpPr/>
          <p:nvPr/>
        </p:nvSpPr>
        <p:spPr>
          <a:xfrm>
            <a:off x="7129555" y="2428836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Barock</a:t>
            </a:r>
            <a:endParaRPr lang="en-US" sz="135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E14E8E4E-18AC-C357-D68B-244D92B6103E}"/>
              </a:ext>
            </a:extLst>
          </p:cNvPr>
          <p:cNvSpPr/>
          <p:nvPr/>
        </p:nvSpPr>
        <p:spPr>
          <a:xfrm>
            <a:off x="6763795" y="28494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~1600–1750</a:t>
            </a:r>
            <a:endParaRPr lang="en-US" sz="10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B6E4E506-3A88-3560-18C0-2B3D4F77B77C}"/>
              </a:ext>
            </a:extLst>
          </p:cNvPr>
          <p:cNvSpPr/>
          <p:nvPr/>
        </p:nvSpPr>
        <p:spPr>
          <a:xfrm>
            <a:off x="8720611" y="2319108"/>
            <a:ext cx="19385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D34C12FA-06C9-40B8-F3E6-C8E71FDD10A4}"/>
              </a:ext>
            </a:extLst>
          </p:cNvPr>
          <p:cNvSpPr/>
          <p:nvPr/>
        </p:nvSpPr>
        <p:spPr>
          <a:xfrm>
            <a:off x="8866915" y="2483700"/>
            <a:ext cx="274320" cy="274320"/>
          </a:xfrm>
          <a:prstGeom prst="ellipse">
            <a:avLst/>
          </a:prstGeom>
          <a:solidFill>
            <a:srgbClr val="2F6E8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313B1216-9043-7FDC-8531-344F6FF09A58}"/>
              </a:ext>
            </a:extLst>
          </p:cNvPr>
          <p:cNvSpPr/>
          <p:nvPr/>
        </p:nvSpPr>
        <p:spPr>
          <a:xfrm>
            <a:off x="9232675" y="2428836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Kubismus</a:t>
            </a:r>
            <a:endParaRPr lang="en-US" sz="13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A10CDF3B-2EB2-B7E0-FF25-5309494DA02B}"/>
              </a:ext>
            </a:extLst>
          </p:cNvPr>
          <p:cNvSpPr/>
          <p:nvPr/>
        </p:nvSpPr>
        <p:spPr>
          <a:xfrm>
            <a:off x="8866915" y="28494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~1907–1920</a:t>
            </a:r>
            <a:endParaRPr lang="en-US" sz="10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81F55403-B1D1-B4FB-52AF-2DB8445FBC11}"/>
              </a:ext>
            </a:extLst>
          </p:cNvPr>
          <p:cNvSpPr/>
          <p:nvPr/>
        </p:nvSpPr>
        <p:spPr>
          <a:xfrm>
            <a:off x="6617491" y="3398100"/>
            <a:ext cx="19385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216B0FD8-8D9E-DB43-13BB-1B650E2FF9A1}"/>
              </a:ext>
            </a:extLst>
          </p:cNvPr>
          <p:cNvSpPr/>
          <p:nvPr/>
        </p:nvSpPr>
        <p:spPr>
          <a:xfrm>
            <a:off x="6763795" y="3562692"/>
            <a:ext cx="274320" cy="274320"/>
          </a:xfrm>
          <a:prstGeom prst="ellipse">
            <a:avLst/>
          </a:prstGeom>
          <a:solidFill>
            <a:srgbClr val="5B677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F023C3EA-14DB-F9F3-39E1-E0431CD526CD}"/>
              </a:ext>
            </a:extLst>
          </p:cNvPr>
          <p:cNvSpPr/>
          <p:nvPr/>
        </p:nvSpPr>
        <p:spPr>
          <a:xfrm>
            <a:off x="7129555" y="350782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Minimalismus</a:t>
            </a:r>
            <a:endParaRPr lang="en-US" sz="13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2FC0D34-9495-01D2-107A-50311999F0D0}"/>
              </a:ext>
            </a:extLst>
          </p:cNvPr>
          <p:cNvSpPr/>
          <p:nvPr/>
        </p:nvSpPr>
        <p:spPr>
          <a:xfrm>
            <a:off x="6763795" y="39284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~1960</a:t>
            </a:r>
            <a:endParaRPr lang="en-US" sz="105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29FD0EDF-6E70-DC32-EC7A-4A1C16E76DB0}"/>
              </a:ext>
            </a:extLst>
          </p:cNvPr>
          <p:cNvSpPr/>
          <p:nvPr/>
        </p:nvSpPr>
        <p:spPr>
          <a:xfrm>
            <a:off x="8720611" y="3398100"/>
            <a:ext cx="19385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FB3FC541-974A-5B01-2658-0E84F73F6128}"/>
              </a:ext>
            </a:extLst>
          </p:cNvPr>
          <p:cNvSpPr/>
          <p:nvPr/>
        </p:nvSpPr>
        <p:spPr>
          <a:xfrm>
            <a:off x="8866915" y="3562692"/>
            <a:ext cx="274320" cy="274320"/>
          </a:xfrm>
          <a:prstGeom prst="ellipse">
            <a:avLst/>
          </a:prstGeom>
          <a:solidFill>
            <a:srgbClr val="C9447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74BFFAC4-DB8A-EF2A-AE30-A043050ECD41}"/>
              </a:ext>
            </a:extLst>
          </p:cNvPr>
          <p:cNvSpPr/>
          <p:nvPr/>
        </p:nvSpPr>
        <p:spPr>
          <a:xfrm>
            <a:off x="9232675" y="350782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Pop-Art</a:t>
            </a:r>
            <a:endParaRPr lang="en-US" sz="135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0F26A780-2C04-7E0C-0E09-25A834DF2FFB}"/>
              </a:ext>
            </a:extLst>
          </p:cNvPr>
          <p:cNvSpPr/>
          <p:nvPr/>
        </p:nvSpPr>
        <p:spPr>
          <a:xfrm>
            <a:off x="8866915" y="39284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~1950–1970</a:t>
            </a:r>
            <a:endParaRPr lang="en-US" sz="1050" dirty="0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48D30115-98B8-714A-E335-8CC913EBBA3D}"/>
              </a:ext>
            </a:extLst>
          </p:cNvPr>
          <p:cNvSpPr/>
          <p:nvPr/>
        </p:nvSpPr>
        <p:spPr>
          <a:xfrm>
            <a:off x="6617491" y="4477092"/>
            <a:ext cx="19385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DEAA6990-32F5-BF61-4853-7806D9E1E2F7}"/>
              </a:ext>
            </a:extLst>
          </p:cNvPr>
          <p:cNvSpPr/>
          <p:nvPr/>
        </p:nvSpPr>
        <p:spPr>
          <a:xfrm>
            <a:off x="6763795" y="4641684"/>
            <a:ext cx="274320" cy="274320"/>
          </a:xfrm>
          <a:prstGeom prst="ellipse">
            <a:avLst/>
          </a:prstGeom>
          <a:solidFill>
            <a:srgbClr val="6E7F4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1CE42D8A-97B4-F2E0-E110-8C722B420C66}"/>
              </a:ext>
            </a:extLst>
          </p:cNvPr>
          <p:cNvSpPr/>
          <p:nvPr/>
        </p:nvSpPr>
        <p:spPr>
          <a:xfrm>
            <a:off x="7129555" y="45868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Realismus</a:t>
            </a:r>
            <a:endParaRPr lang="en-US" sz="1350" dirty="0"/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78E1EC9F-79E7-0C31-92D2-F00852D2ABD7}"/>
              </a:ext>
            </a:extLst>
          </p:cNvPr>
          <p:cNvSpPr/>
          <p:nvPr/>
        </p:nvSpPr>
        <p:spPr>
          <a:xfrm>
            <a:off x="6763795" y="50074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~1840–1880</a:t>
            </a:r>
            <a:endParaRPr lang="en-US" sz="1050" dirty="0"/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DE0401B5-3963-864A-20CC-4DE154DB8D3D}"/>
              </a:ext>
            </a:extLst>
          </p:cNvPr>
          <p:cNvSpPr/>
          <p:nvPr/>
        </p:nvSpPr>
        <p:spPr>
          <a:xfrm>
            <a:off x="8720611" y="4477092"/>
            <a:ext cx="19385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6" name="Shape 32">
            <a:extLst>
              <a:ext uri="{FF2B5EF4-FFF2-40B4-BE49-F238E27FC236}">
                <a16:creationId xmlns:a16="http://schemas.microsoft.com/office/drawing/2014/main" id="{D5865A15-786B-5582-50C4-5E8B61B81D70}"/>
              </a:ext>
            </a:extLst>
          </p:cNvPr>
          <p:cNvSpPr/>
          <p:nvPr/>
        </p:nvSpPr>
        <p:spPr>
          <a:xfrm>
            <a:off x="8866915" y="4641684"/>
            <a:ext cx="274320" cy="274320"/>
          </a:xfrm>
          <a:prstGeom prst="ellipse">
            <a:avLst/>
          </a:prstGeom>
          <a:solidFill>
            <a:srgbClr val="5E4B8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B2DC6953-F7B5-1686-7A13-3C2351AC1696}"/>
              </a:ext>
            </a:extLst>
          </p:cNvPr>
          <p:cNvSpPr/>
          <p:nvPr/>
        </p:nvSpPr>
        <p:spPr>
          <a:xfrm>
            <a:off x="9232675" y="45868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Romantik</a:t>
            </a:r>
            <a:endParaRPr lang="en-US" sz="1350" dirty="0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80155405-AADF-B443-8D51-296FA08B8BB9}"/>
              </a:ext>
            </a:extLst>
          </p:cNvPr>
          <p:cNvSpPr/>
          <p:nvPr/>
        </p:nvSpPr>
        <p:spPr>
          <a:xfrm>
            <a:off x="8866915" y="50074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~1790–1850</a:t>
            </a:r>
            <a:endParaRPr lang="en-US" sz="105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574C5E33-DF49-FE7A-A021-8EA968058F6C}"/>
              </a:ext>
            </a:extLst>
          </p:cNvPr>
          <p:cNvSpPr/>
          <p:nvPr/>
        </p:nvSpPr>
        <p:spPr>
          <a:xfrm>
            <a:off x="1766789" y="237113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</a:t>
            </a:r>
            <a:endParaRPr lang="en-US" sz="1500" dirty="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1EF9204C-B3A1-D8D7-756F-CC98775820EB}"/>
              </a:ext>
            </a:extLst>
          </p:cNvPr>
          <p:cNvSpPr/>
          <p:nvPr/>
        </p:nvSpPr>
        <p:spPr>
          <a:xfrm>
            <a:off x="1766789" y="266374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 klassifizieren – welche Kunstepoche? (6 Klassen)</a:t>
            </a:r>
            <a:endParaRPr lang="en-US" sz="1150" dirty="0"/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0834C721-5EFF-2E52-576E-82D736B2C918}"/>
              </a:ext>
            </a:extLst>
          </p:cNvPr>
          <p:cNvSpPr/>
          <p:nvPr/>
        </p:nvSpPr>
        <p:spPr>
          <a:xfrm>
            <a:off x="1766789" y="345012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 &amp; Ausgabe</a:t>
            </a:r>
            <a:endParaRPr lang="en-US" sz="15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ED186B2F-62FC-18DC-9A61-765675355983}"/>
              </a:ext>
            </a:extLst>
          </p:cNvPr>
          <p:cNvSpPr/>
          <p:nvPr/>
        </p:nvSpPr>
        <p:spPr>
          <a:xfrm>
            <a:off x="1766789" y="374273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eines Gemäldes rein → Epoche + Wahrscheinlichkeit raus</a:t>
            </a:r>
            <a:endParaRPr lang="en-US" sz="1150" dirty="0"/>
          </a:p>
        </p:txBody>
      </p:sp>
      <p:sp>
        <p:nvSpPr>
          <p:cNvPr id="69" name="Text 9">
            <a:extLst>
              <a:ext uri="{FF2B5EF4-FFF2-40B4-BE49-F238E27FC236}">
                <a16:creationId xmlns:a16="http://schemas.microsoft.com/office/drawing/2014/main" id="{83F7DF86-C37C-70FF-2924-527350CD1B4C}"/>
              </a:ext>
            </a:extLst>
          </p:cNvPr>
          <p:cNvSpPr/>
          <p:nvPr/>
        </p:nvSpPr>
        <p:spPr>
          <a:xfrm>
            <a:off x="1766789" y="45291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Business-Nutzen</a:t>
            </a:r>
            <a:endParaRPr lang="en-US" sz="1500" dirty="0"/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CF41A84A-3719-06FF-C076-65014FB8BB94}"/>
              </a:ext>
            </a:extLst>
          </p:cNvPr>
          <p:cNvSpPr/>
          <p:nvPr/>
        </p:nvSpPr>
        <p:spPr>
          <a:xfrm>
            <a:off x="1766789" y="482172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Auto-Verschlagwortung digitaler Kunstarchive, Galerien, Auktionen, Such- &amp; </a:t>
            </a:r>
            <a:r>
              <a:rPr lang="en-US" sz="1150" dirty="0" err="1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</a:t>
            </a:r>
            <a:r>
              <a:rPr lang="en-US" sz="11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-Apps</a:t>
            </a:r>
            <a:br>
              <a:rPr lang="en-US" sz="11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15437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 31">
            <a:extLst>
              <a:ext uri="{FF2B5EF4-FFF2-40B4-BE49-F238E27FC236}">
                <a16:creationId xmlns:a16="http://schemas.microsoft.com/office/drawing/2014/main" id="{058589AE-3154-AFCF-A99D-74176FAE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Vorgehensweise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08FFB9-BA00-BA42-05B9-B553985A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8C89-6DBD-454B-87F5-176A8C31E8C3}" type="datetime4">
              <a:rPr lang="de-DE" smtClean="0"/>
              <a:t>25. Juni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6A56BE-B5BC-E16B-D20C-86493334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ML4B | K Team | </a:t>
            </a:r>
            <a:r>
              <a:rPr lang="it-IT" dirty="0" err="1"/>
              <a:t>Epochen</a:t>
            </a:r>
            <a:r>
              <a:rPr lang="it-IT" dirty="0"/>
              <a:t> </a:t>
            </a:r>
            <a:r>
              <a:rPr lang="it-IT" dirty="0" err="1"/>
              <a:t>Klassifikator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0EEDFF-21D1-4C09-CD03-6CA2702C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D60910DE-5C86-C67C-D9E1-9AAA69A058B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674544"/>
          </a:xfrm>
        </p:spPr>
        <p:txBody>
          <a:bodyPr/>
          <a:lstStyle/>
          <a:p>
            <a:r>
              <a:rPr lang="de-DE" dirty="0"/>
              <a:t>Von den Rohdaten bis zur Live-App – eine durchgängige Pipeline.</a:t>
            </a:r>
          </a:p>
          <a:p>
            <a:endParaRPr lang="de-DE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2F3E2ABC-A1FF-AE1F-7E3F-62E3401C5534}"/>
              </a:ext>
            </a:extLst>
          </p:cNvPr>
          <p:cNvSpPr>
            <a:spLocks/>
          </p:cNvSpPr>
          <p:nvPr/>
        </p:nvSpPr>
        <p:spPr>
          <a:xfrm>
            <a:off x="871523" y="214211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4F1F6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7E4A8B05-2C76-2478-0456-F702EEC093A5}"/>
              </a:ext>
            </a:extLst>
          </p:cNvPr>
          <p:cNvSpPr/>
          <p:nvPr/>
        </p:nvSpPr>
        <p:spPr>
          <a:xfrm>
            <a:off x="1383587" y="2306702"/>
            <a:ext cx="493776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765C1E44-6916-1FD9-9CAD-C03A403F4699}"/>
              </a:ext>
            </a:extLst>
          </p:cNvPr>
          <p:cNvSpPr/>
          <p:nvPr/>
        </p:nvSpPr>
        <p:spPr>
          <a:xfrm>
            <a:off x="1383587" y="230670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8D2C7DF1-C244-53C3-23DB-7F055AFD453F}"/>
              </a:ext>
            </a:extLst>
          </p:cNvPr>
          <p:cNvSpPr/>
          <p:nvPr/>
        </p:nvSpPr>
        <p:spPr>
          <a:xfrm>
            <a:off x="917243" y="333083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35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FD6E8257-9192-F3E2-C005-53A877245FA0}"/>
              </a:ext>
            </a:extLst>
          </p:cNvPr>
          <p:cNvSpPr/>
          <p:nvPr/>
        </p:nvSpPr>
        <p:spPr>
          <a:xfrm>
            <a:off x="926387" y="3623438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WikiArt (Kaggle)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8.820 Bilder, 6 Klassen</a:t>
            </a:r>
            <a:endParaRPr lang="en-US" sz="95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556D3735-A30A-1A3D-1355-FCA45BB5D094}"/>
              </a:ext>
            </a:extLst>
          </p:cNvPr>
          <p:cNvSpPr>
            <a:spLocks/>
          </p:cNvSpPr>
          <p:nvPr/>
        </p:nvSpPr>
        <p:spPr>
          <a:xfrm>
            <a:off x="3483659" y="214211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4F1F6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87673ACB-CF5A-CDBE-BC30-C0F05E8D54E8}"/>
              </a:ext>
            </a:extLst>
          </p:cNvPr>
          <p:cNvSpPr/>
          <p:nvPr/>
        </p:nvSpPr>
        <p:spPr>
          <a:xfrm>
            <a:off x="3995723" y="2306702"/>
            <a:ext cx="493776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4286130A-1B6C-6CA0-D3D3-7820E46E1E19}"/>
              </a:ext>
            </a:extLst>
          </p:cNvPr>
          <p:cNvSpPr/>
          <p:nvPr/>
        </p:nvSpPr>
        <p:spPr>
          <a:xfrm>
            <a:off x="3995723" y="230670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76CFDD6F-C64B-5F13-7D2C-AC906C634742}"/>
              </a:ext>
            </a:extLst>
          </p:cNvPr>
          <p:cNvSpPr/>
          <p:nvPr/>
        </p:nvSpPr>
        <p:spPr>
          <a:xfrm>
            <a:off x="3529379" y="333083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F993A0EE-8BB7-8FE9-DE0D-F92CF586E244}"/>
              </a:ext>
            </a:extLst>
          </p:cNvPr>
          <p:cNvSpPr/>
          <p:nvPr/>
        </p:nvSpPr>
        <p:spPr>
          <a:xfrm>
            <a:off x="3538523" y="3623438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224², Augmentation,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ImageNet-Normierung</a:t>
            </a:r>
            <a:endParaRPr lang="en-US" sz="95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2449E470-8771-BE1E-FF94-2FACB21975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66155" y="214211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4F1F6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7343D54C-6B64-6895-1909-7047D7EBE1FE}"/>
              </a:ext>
            </a:extLst>
          </p:cNvPr>
          <p:cNvSpPr/>
          <p:nvPr/>
        </p:nvSpPr>
        <p:spPr>
          <a:xfrm>
            <a:off x="5678219" y="2306702"/>
            <a:ext cx="493776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4AF2D060-7909-7263-13B1-074BDB3CA294}"/>
              </a:ext>
            </a:extLst>
          </p:cNvPr>
          <p:cNvSpPr/>
          <p:nvPr/>
        </p:nvSpPr>
        <p:spPr>
          <a:xfrm>
            <a:off x="5678219" y="230670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794903A3-753D-09B6-3FA6-546958FA7ADE}"/>
              </a:ext>
            </a:extLst>
          </p:cNvPr>
          <p:cNvSpPr/>
          <p:nvPr/>
        </p:nvSpPr>
        <p:spPr>
          <a:xfrm>
            <a:off x="5211875" y="333083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</a:t>
            </a:r>
            <a:endParaRPr lang="en-US" sz="135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190766B6-F443-FB90-1A25-D61E8A60C4BD}"/>
              </a:ext>
            </a:extLst>
          </p:cNvPr>
          <p:cNvSpPr/>
          <p:nvPr/>
        </p:nvSpPr>
        <p:spPr>
          <a:xfrm>
            <a:off x="5221019" y="3623438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ResNet50: Backbone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eingefroren, neuer Kopf</a:t>
            </a:r>
            <a:endParaRPr lang="en-US" sz="95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A7588500-3E16-CEE5-CF26-D0164FF9DB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48651" y="214211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4F1F6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AC2FA087-5AD2-3A9F-60D4-48EA06079C4B}"/>
              </a:ext>
            </a:extLst>
          </p:cNvPr>
          <p:cNvSpPr/>
          <p:nvPr/>
        </p:nvSpPr>
        <p:spPr>
          <a:xfrm>
            <a:off x="7360715" y="2306702"/>
            <a:ext cx="493776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A5FD649C-B809-A9E8-0246-CFB0E13B269E}"/>
              </a:ext>
            </a:extLst>
          </p:cNvPr>
          <p:cNvSpPr/>
          <p:nvPr/>
        </p:nvSpPr>
        <p:spPr>
          <a:xfrm>
            <a:off x="7360715" y="230670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C96EB859-162D-F67C-7CEC-2E6D2E15A9D2}"/>
              </a:ext>
            </a:extLst>
          </p:cNvPr>
          <p:cNvSpPr/>
          <p:nvPr/>
        </p:nvSpPr>
        <p:spPr>
          <a:xfrm>
            <a:off x="6894371" y="333083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50" dirty="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99187C39-978C-F87B-D959-F848EE3D8BF6}"/>
              </a:ext>
            </a:extLst>
          </p:cNvPr>
          <p:cNvSpPr/>
          <p:nvPr/>
        </p:nvSpPr>
        <p:spPr>
          <a:xfrm>
            <a:off x="6903515" y="3623438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Early Stopping,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LR-Scheduler</a:t>
            </a:r>
            <a:endParaRPr lang="en-US" sz="950" dirty="0"/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A99E99F9-C9CD-9AF8-AED9-75E258EBC4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31147" y="2142110"/>
            <a:ext cx="1517904" cy="2148840"/>
          </a:xfrm>
          <a:prstGeom prst="roundRect">
            <a:avLst>
              <a:gd name="adj" fmla="val 4819"/>
            </a:avLst>
          </a:prstGeom>
          <a:solidFill>
            <a:srgbClr val="F4F1F6"/>
          </a:solidFill>
          <a:ln w="12700">
            <a:solidFill>
              <a:srgbClr val="E4DFEA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2DF5B983-63E4-7CEC-5FB8-F62F5F3688E8}"/>
              </a:ext>
            </a:extLst>
          </p:cNvPr>
          <p:cNvSpPr/>
          <p:nvPr/>
        </p:nvSpPr>
        <p:spPr>
          <a:xfrm>
            <a:off x="9043211" y="2306702"/>
            <a:ext cx="493776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793C5D26-FE8B-9FE6-127C-87632970B347}"/>
              </a:ext>
            </a:extLst>
          </p:cNvPr>
          <p:cNvSpPr/>
          <p:nvPr/>
        </p:nvSpPr>
        <p:spPr>
          <a:xfrm>
            <a:off x="9043211" y="230670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A984DBBE-4394-968B-EBB4-4E65AEB65713}"/>
              </a:ext>
            </a:extLst>
          </p:cNvPr>
          <p:cNvSpPr/>
          <p:nvPr/>
        </p:nvSpPr>
        <p:spPr>
          <a:xfrm>
            <a:off x="8576867" y="333083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App</a:t>
            </a:r>
            <a:endParaRPr lang="en-US" sz="1350" dirty="0"/>
          </a:p>
        </p:txBody>
      </p:sp>
      <p:sp>
        <p:nvSpPr>
          <p:cNvPr id="68" name="Text 26">
            <a:extLst>
              <a:ext uri="{FF2B5EF4-FFF2-40B4-BE49-F238E27FC236}">
                <a16:creationId xmlns:a16="http://schemas.microsoft.com/office/drawing/2014/main" id="{46699556-E209-F9B5-0B0C-6B1F5860ACBD}"/>
              </a:ext>
            </a:extLst>
          </p:cNvPr>
          <p:cNvSpPr/>
          <p:nvPr/>
        </p:nvSpPr>
        <p:spPr>
          <a:xfrm>
            <a:off x="8586011" y="3623438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Metriken +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Streamlit-Live-Demo</a:t>
            </a:r>
            <a:endParaRPr lang="en-US" sz="950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9807FE40-99D3-0CCF-33D5-9444B4E185B3}"/>
              </a:ext>
            </a:extLst>
          </p:cNvPr>
          <p:cNvSpPr/>
          <p:nvPr/>
        </p:nvSpPr>
        <p:spPr>
          <a:xfrm>
            <a:off x="1052882" y="5374969"/>
            <a:ext cx="10086235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1" name="Text 28">
            <a:extLst>
              <a:ext uri="{FF2B5EF4-FFF2-40B4-BE49-F238E27FC236}">
                <a16:creationId xmlns:a16="http://schemas.microsoft.com/office/drawing/2014/main" id="{CA5CE39D-990F-E4F4-6A25-832258F7006C}"/>
              </a:ext>
            </a:extLst>
          </p:cNvPr>
          <p:cNvSpPr/>
          <p:nvPr/>
        </p:nvSpPr>
        <p:spPr>
          <a:xfrm>
            <a:off x="1281483" y="5374969"/>
            <a:ext cx="9760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Werkzeuge:</a:t>
            </a:r>
            <a:r>
              <a:rPr lang="en-US" sz="1600" b="1" dirty="0">
                <a:solidFill>
                  <a:srgbClr val="C2A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Torchvision · Google Colab (GPU) · Streamlit · uv (reproduzierbare Umgebung) · SEED 42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5" name="Grafik 74" descr="Datenbank mit einfarbiger Füllung">
            <a:extLst>
              <a:ext uri="{FF2B5EF4-FFF2-40B4-BE49-F238E27FC236}">
                <a16:creationId xmlns:a16="http://schemas.microsoft.com/office/drawing/2014/main" id="{A9C2929B-51E4-CAE4-5898-138FCC100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3587" y="2842451"/>
            <a:ext cx="493776" cy="493776"/>
          </a:xfrm>
          <a:prstGeom prst="rect">
            <a:avLst/>
          </a:prstGeom>
        </p:spPr>
      </p:pic>
      <p:pic>
        <p:nvPicPr>
          <p:cNvPr id="77" name="Grafik 76" descr="Zahnräder mit einfarbiger Füllung">
            <a:extLst>
              <a:ext uri="{FF2B5EF4-FFF2-40B4-BE49-F238E27FC236}">
                <a16:creationId xmlns:a16="http://schemas.microsoft.com/office/drawing/2014/main" id="{4B66E967-7D7A-AFB8-9008-F3397278A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7617" y="2842451"/>
            <a:ext cx="559972" cy="559972"/>
          </a:xfrm>
          <a:prstGeom prst="rect">
            <a:avLst/>
          </a:prstGeom>
        </p:spPr>
      </p:pic>
      <p:pic>
        <p:nvPicPr>
          <p:cNvPr id="79" name="Grafik 78" descr="Monitor mit einfarbiger Füllung">
            <a:extLst>
              <a:ext uri="{FF2B5EF4-FFF2-40B4-BE49-F238E27FC236}">
                <a16:creationId xmlns:a16="http://schemas.microsoft.com/office/drawing/2014/main" id="{35A92022-089C-E350-D2C9-C20448888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5901" y="2839881"/>
            <a:ext cx="592167" cy="592167"/>
          </a:xfrm>
          <a:prstGeom prst="rect">
            <a:avLst/>
          </a:prstGeom>
        </p:spPr>
      </p:pic>
      <p:pic>
        <p:nvPicPr>
          <p:cNvPr id="81" name="Grafik 80" descr="Einstellungen mit einfarbiger Füllung">
            <a:extLst>
              <a:ext uri="{FF2B5EF4-FFF2-40B4-BE49-F238E27FC236}">
                <a16:creationId xmlns:a16="http://schemas.microsoft.com/office/drawing/2014/main" id="{A53F9905-9C86-B644-0300-85E6858F00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471" y="2796951"/>
            <a:ext cx="656279" cy="656279"/>
          </a:xfrm>
          <a:prstGeom prst="rect">
            <a:avLst/>
          </a:prstGeom>
        </p:spPr>
      </p:pic>
      <p:pic>
        <p:nvPicPr>
          <p:cNvPr id="83" name="Grafik 82" descr="Netzplandiagramm mit einfarbiger Füllung">
            <a:extLst>
              <a:ext uri="{FF2B5EF4-FFF2-40B4-BE49-F238E27FC236}">
                <a16:creationId xmlns:a16="http://schemas.microsoft.com/office/drawing/2014/main" id="{59C995AA-45BA-FE36-AA28-F1F49821B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8219" y="2839881"/>
            <a:ext cx="562542" cy="562542"/>
          </a:xfrm>
          <a:prstGeom prst="rect">
            <a:avLst/>
          </a:prstGeom>
        </p:spPr>
      </p:pic>
      <p:sp>
        <p:nvSpPr>
          <p:cNvPr id="84" name="Shape 3">
            <a:extLst>
              <a:ext uri="{FF2B5EF4-FFF2-40B4-BE49-F238E27FC236}">
                <a16:creationId xmlns:a16="http://schemas.microsoft.com/office/drawing/2014/main" id="{5FEB08C8-3BEC-B0D1-BBD7-2465F69DC960}"/>
              </a:ext>
            </a:extLst>
          </p:cNvPr>
          <p:cNvSpPr/>
          <p:nvPr/>
        </p:nvSpPr>
        <p:spPr>
          <a:xfrm>
            <a:off x="2733851" y="2244931"/>
            <a:ext cx="493776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71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 31">
            <a:extLst>
              <a:ext uri="{FF2B5EF4-FFF2-40B4-BE49-F238E27FC236}">
                <a16:creationId xmlns:a16="http://schemas.microsoft.com/office/drawing/2014/main" id="{4D52715B-7442-964B-CDD6-E136DF8B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CRISP-DM im Projekt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FBC999F-9858-5F47-27E4-BC791039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8C89-6DBD-454B-87F5-176A8C31E8C3}" type="datetime4">
              <a:rPr lang="de-DE" smtClean="0"/>
              <a:t>25. Juni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030076-5388-5060-8862-99E9AF5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ML4B | K Team | </a:t>
            </a:r>
            <a:r>
              <a:rPr lang="it-IT" dirty="0" err="1"/>
              <a:t>Epochen</a:t>
            </a:r>
            <a:r>
              <a:rPr lang="it-IT" dirty="0"/>
              <a:t> </a:t>
            </a:r>
            <a:r>
              <a:rPr lang="it-IT" dirty="0" err="1"/>
              <a:t>Klassifikator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63BBD6-E594-4DA4-76C3-8DE0491D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B314535C-289C-DEE1-F2F1-8712B4B2011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/>
          <a:lstStyle/>
          <a:p>
            <a:r>
              <a:rPr lang="de-DE" dirty="0"/>
              <a:t>Das Standard-Vorgehensmodell für Data-Science-Projekte</a:t>
            </a:r>
          </a:p>
        </p:txBody>
      </p:sp>
      <p:sp>
        <p:nvSpPr>
          <p:cNvPr id="111" name="CRISP Arrow 1-2"/>
          <p:cNvSpPr/>
          <p:nvPr/>
        </p:nvSpPr>
        <p:spPr>
          <a:xfrm rot="1200000">
            <a:off x="5280067" y="1982267"/>
            <a:ext cx="535254" cy="362711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2" name="CRISP Arrow 2-3"/>
          <p:cNvSpPr/>
          <p:nvPr/>
        </p:nvSpPr>
        <p:spPr>
          <a:xfrm rot="5400000">
            <a:off x="6731201" y="3713163"/>
            <a:ext cx="782692" cy="248045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3" name="CRISP Arrow 3-4"/>
          <p:cNvSpPr/>
          <p:nvPr/>
        </p:nvSpPr>
        <p:spPr>
          <a:xfrm rot="9600000">
            <a:off x="5274154" y="5360455"/>
            <a:ext cx="535254" cy="362711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4" name="CRISP Arrow 4-5"/>
          <p:cNvSpPr/>
          <p:nvPr/>
        </p:nvSpPr>
        <p:spPr>
          <a:xfrm rot="12000000">
            <a:off x="2260067" y="5263067"/>
            <a:ext cx="535254" cy="362711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5" name="CRISP Arrow 5-6"/>
          <p:cNvSpPr/>
          <p:nvPr/>
        </p:nvSpPr>
        <p:spPr>
          <a:xfrm rot="16200000">
            <a:off x="711201" y="3713163"/>
            <a:ext cx="782692" cy="248045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6" name="CRISP Arrow 6-1"/>
          <p:cNvSpPr/>
          <p:nvPr/>
        </p:nvSpPr>
        <p:spPr>
          <a:xfrm rot="20400000">
            <a:off x="2254154" y="2079655"/>
            <a:ext cx="535254" cy="362711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0" name="CRISP Hub"/>
          <p:cNvSpPr/>
          <p:nvPr/>
        </p:nvSpPr>
        <p:spPr>
          <a:xfrm>
            <a:off x="3268524" y="2955840"/>
            <a:ext cx="1174948" cy="1718105"/>
          </a:xfrm>
          <a:prstGeom prst="ellipse">
            <a:avLst/>
          </a:prstGeom>
          <a:solidFill>
            <a:srgbClr val="971B2F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600" b="1" dirty="0">
                <a:solidFill>
                  <a:srgbClr val="FFFFFF"/>
                </a:solidFill>
              </a:rPr>
              <a:t>CRISP-DM</a:t>
            </a:r>
          </a:p>
          <a:p>
            <a:pPr algn="ctr"/>
            <a:r>
              <a:rPr lang="de-DE" sz="900" dirty="0">
                <a:solidFill>
                  <a:srgbClr val="FFFFFF"/>
                </a:solidFill>
              </a:rPr>
              <a:t>iterativer Prozess</a:t>
            </a:r>
          </a:p>
        </p:txBody>
      </p:sp>
      <p:sp>
        <p:nvSpPr>
          <p:cNvPr id="101" name="CRISP Node 1"/>
          <p:cNvSpPr/>
          <p:nvPr/>
        </p:nvSpPr>
        <p:spPr>
          <a:xfrm>
            <a:off x="3018524" y="1380840"/>
            <a:ext cx="1501323" cy="1097678"/>
          </a:xfrm>
          <a:prstGeom prst="roundRect">
            <a:avLst>
              <a:gd name="adj" fmla="val 16667"/>
            </a:avLst>
          </a:prstGeom>
          <a:solidFill>
            <a:srgbClr val="C50F3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lang="de-DE" sz="1100" b="1">
                <a:solidFill>
                  <a:srgbClr val="FFFFFF"/>
                </a:solidFill>
              </a:rPr>
              <a:t>Business Understanding</a:t>
            </a:r>
          </a:p>
        </p:txBody>
      </p:sp>
      <p:sp>
        <p:nvSpPr>
          <p:cNvPr id="102" name="CRISP Node 2"/>
          <p:cNvSpPr/>
          <p:nvPr/>
        </p:nvSpPr>
        <p:spPr>
          <a:xfrm>
            <a:off x="5616524" y="2330840"/>
            <a:ext cx="1501323" cy="1097678"/>
          </a:xfrm>
          <a:prstGeom prst="roundRect">
            <a:avLst>
              <a:gd name="adj" fmla="val 16667"/>
            </a:avLst>
          </a:prstGeom>
          <a:solidFill>
            <a:srgbClr val="C50F3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lang="de-DE" sz="1100" b="1">
                <a:solidFill>
                  <a:srgbClr val="FFFFFF"/>
                </a:solidFill>
              </a:rPr>
              <a:t>Data Understanding</a:t>
            </a:r>
          </a:p>
        </p:txBody>
      </p:sp>
      <p:sp>
        <p:nvSpPr>
          <p:cNvPr id="103" name="CRISP Node 3"/>
          <p:cNvSpPr/>
          <p:nvPr/>
        </p:nvSpPr>
        <p:spPr>
          <a:xfrm>
            <a:off x="5616524" y="4230840"/>
            <a:ext cx="1501323" cy="1097678"/>
          </a:xfrm>
          <a:prstGeom prst="roundRect">
            <a:avLst>
              <a:gd name="adj" fmla="val 16667"/>
            </a:avLst>
          </a:prstGeom>
          <a:solidFill>
            <a:srgbClr val="C50F3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lang="de-DE" sz="1100" b="1">
                <a:solidFill>
                  <a:srgbClr val="FFFFFF"/>
                </a:solidFill>
              </a:rPr>
              <a:t>Data Preparation</a:t>
            </a:r>
          </a:p>
        </p:txBody>
      </p:sp>
      <p:sp>
        <p:nvSpPr>
          <p:cNvPr id="104" name="CRISP Node 4"/>
          <p:cNvSpPr/>
          <p:nvPr/>
        </p:nvSpPr>
        <p:spPr>
          <a:xfrm>
            <a:off x="3018524" y="5180840"/>
            <a:ext cx="1501323" cy="1097678"/>
          </a:xfrm>
          <a:prstGeom prst="roundRect">
            <a:avLst>
              <a:gd name="adj" fmla="val 16667"/>
            </a:avLst>
          </a:prstGeom>
          <a:solidFill>
            <a:srgbClr val="C50F3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lang="de-DE" sz="1100" b="1">
                <a:solidFill>
                  <a:srgbClr val="FFFFFF"/>
                </a:solidFill>
              </a:rPr>
              <a:t>Modeling</a:t>
            </a:r>
          </a:p>
        </p:txBody>
      </p:sp>
      <p:sp>
        <p:nvSpPr>
          <p:cNvPr id="105" name="CRISP Node 5"/>
          <p:cNvSpPr/>
          <p:nvPr/>
        </p:nvSpPr>
        <p:spPr>
          <a:xfrm>
            <a:off x="420524" y="4230840"/>
            <a:ext cx="1501323" cy="1097678"/>
          </a:xfrm>
          <a:prstGeom prst="roundRect">
            <a:avLst>
              <a:gd name="adj" fmla="val 16667"/>
            </a:avLst>
          </a:prstGeom>
          <a:solidFill>
            <a:srgbClr val="C50F3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lang="de-DE" sz="11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06" name="CRISP Node 6"/>
          <p:cNvSpPr/>
          <p:nvPr/>
        </p:nvSpPr>
        <p:spPr>
          <a:xfrm>
            <a:off x="706943" y="2256188"/>
            <a:ext cx="1501323" cy="1097678"/>
          </a:xfrm>
          <a:prstGeom prst="roundRect">
            <a:avLst>
              <a:gd name="adj" fmla="val 16667"/>
            </a:avLst>
          </a:prstGeom>
          <a:solidFill>
            <a:srgbClr val="C50F3C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lang="de-DE" sz="11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1512836-E77B-EAD1-19E0-8B41F1F842C1}"/>
              </a:ext>
            </a:extLst>
          </p:cNvPr>
          <p:cNvSpPr/>
          <p:nvPr/>
        </p:nvSpPr>
        <p:spPr>
          <a:xfrm>
            <a:off x="7659817" y="22928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A2A4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69A0E0-49EC-1C87-93DD-51D54D070715}"/>
              </a:ext>
            </a:extLst>
          </p:cNvPr>
          <p:cNvSpPr/>
          <p:nvPr/>
        </p:nvSpPr>
        <p:spPr>
          <a:xfrm>
            <a:off x="7659817" y="22928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8294DB8-2EA3-F437-5895-ABF5B8D4E2CB}"/>
              </a:ext>
            </a:extLst>
          </p:cNvPr>
          <p:cNvSpPr/>
          <p:nvPr/>
        </p:nvSpPr>
        <p:spPr>
          <a:xfrm>
            <a:off x="8089585" y="2256284"/>
            <a:ext cx="377647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   </a:t>
            </a: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Kunstepochen automatisiert erkennen – Nutzen für Archive &amp; Galerien</a:t>
            </a:r>
            <a:endParaRPr lang="en-US" sz="10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636A7A3-7404-39DE-E791-5F8D048787A8}"/>
              </a:ext>
            </a:extLst>
          </p:cNvPr>
          <p:cNvSpPr/>
          <p:nvPr/>
        </p:nvSpPr>
        <p:spPr>
          <a:xfrm>
            <a:off x="7659817" y="28552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5E4B8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89873BB-4349-AE3C-C143-82C8BFA9EE9F}"/>
              </a:ext>
            </a:extLst>
          </p:cNvPr>
          <p:cNvSpPr/>
          <p:nvPr/>
        </p:nvSpPr>
        <p:spPr>
          <a:xfrm>
            <a:off x="7659817" y="2855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E5DC9BB-4EE5-55F2-35BC-AF745D9E1E04}"/>
              </a:ext>
            </a:extLst>
          </p:cNvPr>
          <p:cNvSpPr/>
          <p:nvPr/>
        </p:nvSpPr>
        <p:spPr>
          <a:xfrm>
            <a:off x="8089585" y="2818640"/>
            <a:ext cx="377647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  </a:t>
            </a: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WikiArt-Datensatz, 6 Epochen, Klassenverteilung geprüft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CF1636D-9BA9-A24B-077E-B91B9792D551}"/>
              </a:ext>
            </a:extLst>
          </p:cNvPr>
          <p:cNvSpPr/>
          <p:nvPr/>
        </p:nvSpPr>
        <p:spPr>
          <a:xfrm>
            <a:off x="7659817" y="34175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F6E8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BEFAB98-A3EB-1F72-AE4A-7CC10B490947}"/>
              </a:ext>
            </a:extLst>
          </p:cNvPr>
          <p:cNvSpPr/>
          <p:nvPr/>
        </p:nvSpPr>
        <p:spPr>
          <a:xfrm>
            <a:off x="7659817" y="3417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824442C-45B7-3FCA-F944-B3ACBE548F83}"/>
              </a:ext>
            </a:extLst>
          </p:cNvPr>
          <p:cNvSpPr/>
          <p:nvPr/>
        </p:nvSpPr>
        <p:spPr>
          <a:xfrm>
            <a:off x="8089585" y="3380996"/>
            <a:ext cx="377647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  </a:t>
            </a: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Auswahl &amp; Balancierung (prepare_data.py), Augmentation, Train/Val/Test-Split</a:t>
            </a:r>
            <a:endParaRPr lang="en-US" sz="10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563416E-B9C1-A4E1-AABB-70BC0029E9F1}"/>
              </a:ext>
            </a:extLst>
          </p:cNvPr>
          <p:cNvSpPr/>
          <p:nvPr/>
        </p:nvSpPr>
        <p:spPr>
          <a:xfrm>
            <a:off x="7659817" y="39799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8B7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BD71996-4725-0E63-7212-FC298FDB9B60}"/>
              </a:ext>
            </a:extLst>
          </p:cNvPr>
          <p:cNvSpPr/>
          <p:nvPr/>
        </p:nvSpPr>
        <p:spPr>
          <a:xfrm>
            <a:off x="7659817" y="397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92D41BE-DE27-230C-F4A4-008FB3242303}"/>
              </a:ext>
            </a:extLst>
          </p:cNvPr>
          <p:cNvSpPr/>
          <p:nvPr/>
        </p:nvSpPr>
        <p:spPr>
          <a:xfrm>
            <a:off x="8089585" y="3943352"/>
            <a:ext cx="377647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  </a:t>
            </a: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Transfer Learning; iterative Runs (ResNet18→50, Dropout, Scheduler)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88C5722-1473-E197-754E-9310C7B4EFBF}"/>
              </a:ext>
            </a:extLst>
          </p:cNvPr>
          <p:cNvSpPr/>
          <p:nvPr/>
        </p:nvSpPr>
        <p:spPr>
          <a:xfrm>
            <a:off x="7659817" y="45422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2A04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13129F0-6F08-4483-C20C-14985EB5F97F}"/>
              </a:ext>
            </a:extLst>
          </p:cNvPr>
          <p:cNvSpPr/>
          <p:nvPr/>
        </p:nvSpPr>
        <p:spPr>
          <a:xfrm>
            <a:off x="7659817" y="4542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83AD94D-D158-AB6A-1CC2-7D6BE4E30859}"/>
              </a:ext>
            </a:extLst>
          </p:cNvPr>
          <p:cNvSpPr/>
          <p:nvPr/>
        </p:nvSpPr>
        <p:spPr>
          <a:xfrm>
            <a:off x="8089585" y="4505708"/>
            <a:ext cx="377647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 </a:t>
            </a: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73,7 % · Macro-F1 0,74 · Confusion Matrix &amp; Lernkurven</a:t>
            </a:r>
            <a:endParaRPr lang="en-US" sz="105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AA84D68-0682-4CCB-FEBD-2C21D3C3416B}"/>
              </a:ext>
            </a:extLst>
          </p:cNvPr>
          <p:cNvSpPr/>
          <p:nvPr/>
        </p:nvSpPr>
        <p:spPr>
          <a:xfrm>
            <a:off x="7659817" y="51046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B564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A9735AD-F665-D5E2-627B-E8D832DFB9AE}"/>
              </a:ext>
            </a:extLst>
          </p:cNvPr>
          <p:cNvSpPr/>
          <p:nvPr/>
        </p:nvSpPr>
        <p:spPr>
          <a:xfrm>
            <a:off x="7659817" y="510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2EA48B8-8FD7-0C9E-BA16-818CA89AFCA2}"/>
              </a:ext>
            </a:extLst>
          </p:cNvPr>
          <p:cNvSpPr/>
          <p:nvPr/>
        </p:nvSpPr>
        <p:spPr>
          <a:xfrm>
            <a:off x="8089585" y="5068064"/>
            <a:ext cx="377647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 </a:t>
            </a:r>
            <a:r>
              <a:rPr lang="en-US" sz="1050" dirty="0">
                <a:solidFill>
                  <a:srgbClr val="6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für Live-Inferenz auf eigenen Bildern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68703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 31">
            <a:extLst>
              <a:ext uri="{FF2B5EF4-FFF2-40B4-BE49-F238E27FC236}">
                <a16:creationId xmlns:a16="http://schemas.microsoft.com/office/drawing/2014/main" id="{3BEC3011-A919-261D-F982-CD550077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&amp; Besonderheiten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C384B2-208A-940A-CDB0-D229E2DA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8C89-6DBD-454B-87F5-176A8C31E8C3}" type="datetime4">
              <a:rPr lang="de-DE" smtClean="0"/>
              <a:t>25. Juni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2679BC-D6A6-6514-006A-6AF5084F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ML4B | K Team | </a:t>
            </a:r>
            <a:r>
              <a:rPr lang="it-IT" dirty="0" err="1"/>
              <a:t>Epochen</a:t>
            </a:r>
            <a:r>
              <a:rPr lang="it-IT" dirty="0"/>
              <a:t> </a:t>
            </a:r>
            <a:r>
              <a:rPr lang="it-IT" dirty="0" err="1"/>
              <a:t>Klassifikator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C9E26F-F321-7511-432D-E389F75B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D7F15154-0D7B-7D4F-6844-08D167EFC30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6CC00A9-EAB1-763D-0664-873FB01FEAB3}"/>
              </a:ext>
            </a:extLst>
          </p:cNvPr>
          <p:cNvSpPr/>
          <p:nvPr/>
        </p:nvSpPr>
        <p:spPr>
          <a:xfrm>
            <a:off x="2045700" y="1746504"/>
            <a:ext cx="239572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F317860-5452-94AE-9D4A-CD13AAE0BEF0}"/>
              </a:ext>
            </a:extLst>
          </p:cNvPr>
          <p:cNvSpPr/>
          <p:nvPr/>
        </p:nvSpPr>
        <p:spPr>
          <a:xfrm>
            <a:off x="2137140" y="180136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73,7 %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B2A13CA-FB0A-1827-2CAA-9771F2B0E663}"/>
              </a:ext>
            </a:extLst>
          </p:cNvPr>
          <p:cNvSpPr/>
          <p:nvPr/>
        </p:nvSpPr>
        <p:spPr>
          <a:xfrm>
            <a:off x="2137140" y="2331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Test-Accuracy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A36348A-A0D7-4B29-9710-E61D1A77C84B}"/>
              </a:ext>
            </a:extLst>
          </p:cNvPr>
          <p:cNvSpPr/>
          <p:nvPr/>
        </p:nvSpPr>
        <p:spPr>
          <a:xfrm>
            <a:off x="4642596" y="1746504"/>
            <a:ext cx="239572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3A1DEBE-C9D9-A3D1-F912-B9ECC30DFD28}"/>
              </a:ext>
            </a:extLst>
          </p:cNvPr>
          <p:cNvSpPr/>
          <p:nvPr/>
        </p:nvSpPr>
        <p:spPr>
          <a:xfrm>
            <a:off x="4734036" y="180136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9DC9432-DA9E-971C-AE08-B00397C92CBE}"/>
              </a:ext>
            </a:extLst>
          </p:cNvPr>
          <p:cNvSpPr/>
          <p:nvPr/>
        </p:nvSpPr>
        <p:spPr>
          <a:xfrm>
            <a:off x="4734036" y="2331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A480AC9-B470-2C08-D5CA-3A1979C32BEA}"/>
              </a:ext>
            </a:extLst>
          </p:cNvPr>
          <p:cNvSpPr/>
          <p:nvPr/>
        </p:nvSpPr>
        <p:spPr>
          <a:xfrm>
            <a:off x="7239492" y="1746504"/>
            <a:ext cx="2395728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83F9E74-272E-DB2F-FEAB-A6A36E288088}"/>
              </a:ext>
            </a:extLst>
          </p:cNvPr>
          <p:cNvSpPr/>
          <p:nvPr/>
        </p:nvSpPr>
        <p:spPr>
          <a:xfrm>
            <a:off x="7330932" y="180136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4×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7441572-33F6-2E26-219B-F4BCB285E1F4}"/>
              </a:ext>
            </a:extLst>
          </p:cNvPr>
          <p:cNvSpPr/>
          <p:nvPr/>
        </p:nvSpPr>
        <p:spPr>
          <a:xfrm>
            <a:off x="7330932" y="23317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 als Raten (17 %)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4" name="Image 0" descr="deck/assets/confusion_norm.png">
            <a:extLst>
              <a:ext uri="{FF2B5EF4-FFF2-40B4-BE49-F238E27FC236}">
                <a16:creationId xmlns:a16="http://schemas.microsoft.com/office/drawing/2014/main" id="{3BB3FCC0-E485-4230-C7F8-C424EDE0A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28" y="3558261"/>
            <a:ext cx="2688336" cy="237744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145769AF-A701-3D0F-6636-B614A6CCD9F5}"/>
              </a:ext>
            </a:extLst>
          </p:cNvPr>
          <p:cNvSpPr/>
          <p:nvPr/>
        </p:nvSpPr>
        <p:spPr>
          <a:xfrm>
            <a:off x="418068" y="327757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 je Epoche (zeilennormiert, %)</a:t>
            </a:r>
            <a:endParaRPr lang="en-US" sz="11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E0FFE154-9D40-2314-42A3-1EB95D2BAFF0}"/>
              </a:ext>
            </a:extLst>
          </p:cNvPr>
          <p:cNvSpPr/>
          <p:nvPr/>
        </p:nvSpPr>
        <p:spPr>
          <a:xfrm>
            <a:off x="6096000" y="3329661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 Epochen werden verwechselt</a:t>
            </a:r>
            <a:endParaRPr lang="en-US" sz="13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EF88621-62C2-29AA-4531-EB36078F8ADC}"/>
              </a:ext>
            </a:extLst>
          </p:cNvPr>
          <p:cNvSpPr/>
          <p:nvPr/>
        </p:nvSpPr>
        <p:spPr>
          <a:xfrm>
            <a:off x="6096000" y="3658845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Barock ↔ Realismus ↔ Romantik; Kubismus &amp; Minimalismus klar trennbar</a:t>
            </a:r>
            <a:endParaRPr lang="en-US" sz="105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137D1723-ACF6-AFF0-3E90-BB41CC65A04E}"/>
              </a:ext>
            </a:extLst>
          </p:cNvPr>
          <p:cNvSpPr/>
          <p:nvPr/>
        </p:nvSpPr>
        <p:spPr>
          <a:xfrm>
            <a:off x="6096000" y="4216629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Systematische Optimierung</a:t>
            </a:r>
            <a:endParaRPr lang="en-US" sz="13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21BE95C-A0BE-0031-EC40-5B21F808FA18}"/>
              </a:ext>
            </a:extLst>
          </p:cNvPr>
          <p:cNvSpPr/>
          <p:nvPr/>
        </p:nvSpPr>
        <p:spPr>
          <a:xfrm>
            <a:off x="6096000" y="4545813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ResNet18→50, Augmentation, Layer-Unfreezing, Scheduler – in Run-Analyse dokumentiert</a:t>
            </a:r>
            <a:endParaRPr lang="en-US" sz="105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31494FE-3F65-1991-A7D2-45CE7614BA8F}"/>
              </a:ext>
            </a:extLst>
          </p:cNvPr>
          <p:cNvSpPr/>
          <p:nvPr/>
        </p:nvSpPr>
        <p:spPr>
          <a:xfrm>
            <a:off x="6096000" y="5103597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 + Live-Demo</a:t>
            </a:r>
            <a:endParaRPr lang="en-US" sz="13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6E1DF9E4-5578-450C-4675-BCBF278108A2}"/>
              </a:ext>
            </a:extLst>
          </p:cNvPr>
          <p:cNvSpPr/>
          <p:nvPr/>
        </p:nvSpPr>
        <p:spPr>
          <a:xfrm>
            <a:off x="6096000" y="5432781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uv-Lockfile · Streamlit-App → jetzt im Screencast</a:t>
            </a:r>
            <a:endParaRPr lang="en-US" sz="1050" dirty="0"/>
          </a:p>
        </p:txBody>
      </p:sp>
      <p:pic>
        <p:nvPicPr>
          <p:cNvPr id="38" name="Grafik 37" descr="Wiedergabe mit einfarbiger Füllung">
            <a:extLst>
              <a:ext uri="{FF2B5EF4-FFF2-40B4-BE49-F238E27FC236}">
                <a16:creationId xmlns:a16="http://schemas.microsoft.com/office/drawing/2014/main" id="{6FEE3E1B-4FE8-57F7-8888-74FA8C7DB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5130" y="5096166"/>
            <a:ext cx="502921" cy="502921"/>
          </a:xfrm>
          <a:prstGeom prst="rect">
            <a:avLst/>
          </a:prstGeom>
        </p:spPr>
      </p:pic>
      <p:pic>
        <p:nvPicPr>
          <p:cNvPr id="40" name="Grafik 39" descr="Pfeil Kreis mit einfarbiger Füllung">
            <a:extLst>
              <a:ext uri="{FF2B5EF4-FFF2-40B4-BE49-F238E27FC236}">
                <a16:creationId xmlns:a16="http://schemas.microsoft.com/office/drawing/2014/main" id="{321F265D-19DA-015D-AC1B-F4B2D7BD8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3216" y="4232065"/>
            <a:ext cx="502921" cy="502921"/>
          </a:xfrm>
          <a:prstGeom prst="rect">
            <a:avLst/>
          </a:prstGeom>
        </p:spPr>
      </p:pic>
      <p:pic>
        <p:nvPicPr>
          <p:cNvPr id="42" name="Grafik 41" descr="Lupe mit einfarbiger Füllung">
            <a:extLst>
              <a:ext uri="{FF2B5EF4-FFF2-40B4-BE49-F238E27FC236}">
                <a16:creationId xmlns:a16="http://schemas.microsoft.com/office/drawing/2014/main" id="{D2342BBE-234D-50D8-001C-315B67716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6194" y="3429000"/>
            <a:ext cx="502921" cy="50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55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AU - Wirtschafts- und Sozialwissenschaften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57411C18D79EB448492E71539952AA4" ma:contentTypeVersion="3" ma:contentTypeDescription="Ein neues Dokument erstellen." ma:contentTypeScope="" ma:versionID="fc5bfab79a56386c219577ce782e181a">
  <xsd:schema xmlns:xsd="http://www.w3.org/2001/XMLSchema" xmlns:xs="http://www.w3.org/2001/XMLSchema" xmlns:p="http://schemas.microsoft.com/office/2006/metadata/properties" xmlns:ns2="1e654f32-361d-4cd3-bad7-2a371cf2c589" targetNamespace="http://schemas.microsoft.com/office/2006/metadata/properties" ma:root="true" ma:fieldsID="70c41ed62a5978652717b57d1173d057" ns2:_="">
    <xsd:import namespace="1e654f32-361d-4cd3-bad7-2a371cf2c5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54f32-361d-4cd3-bad7-2a371cf2c5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1A7FE3-81F7-4596-A188-3EE8D4188E1F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1e654f32-361d-4cd3-bad7-2a371cf2c58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4A920B-672B-4CAB-9977-631BF27A4424}">
  <ds:schemaRefs>
    <ds:schemaRef ds:uri="1e654f32-361d-4cd3-bad7-2a371cf2c5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Breitbild</PresentationFormat>
  <Paragraphs>101</Paragraphs>
  <Slides>5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</vt:lpstr>
      <vt:lpstr>Symbol</vt:lpstr>
      <vt:lpstr>FAU - Wirtschafts- und Sozialwissenschaften</vt:lpstr>
      <vt:lpstr>think-cell Folie</vt:lpstr>
      <vt:lpstr> ML4B:   Epochen Klassifikator </vt:lpstr>
      <vt:lpstr>Worum geht es?</vt:lpstr>
      <vt:lpstr>Vorgehensweise</vt:lpstr>
      <vt:lpstr>CRISP-DM im Projekt</vt:lpstr>
      <vt:lpstr>Ergebnisse &amp; Besonderheiten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Bartl, Tobias</cp:lastModifiedBy>
  <cp:revision>4</cp:revision>
  <dcterms:created xsi:type="dcterms:W3CDTF">2021-11-18T07:49:57Z</dcterms:created>
  <dcterms:modified xsi:type="dcterms:W3CDTF">2026-06-25T18:14:22Z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0x010100057411C18D79EB448492E71539952AA4</vt:lpwstr>
  </property>
</Properties>
</file>